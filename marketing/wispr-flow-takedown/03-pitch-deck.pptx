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SpeakEasy (3-yr)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Light (5k/wk)</c:v>
                  </c:pt>
                  <c:pt idx="1">
                    <c:v>Medium (20k/wk)</c:v>
                  </c:pt>
                  <c:pt idx="2">
                    <c:v>Heavy (50k/wk)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134</c:v>
                </c:pt>
                <c:pt idx="1">
                  <c:v>238</c:v>
                </c:pt>
                <c:pt idx="2">
                  <c:v>448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Wispr Flow (3-yr)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Light (5k/wk)</c:v>
                  </c:pt>
                  <c:pt idx="1">
                    <c:v>Medium (20k/wk)</c:v>
                  </c:pt>
                  <c:pt idx="2">
                    <c:v>Heavy (50k/wk)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540</c:v>
                </c:pt>
                <c:pt idx="1">
                  <c:v>540</c:v>
                </c:pt>
                <c:pt idx="2">
                  <c:v>540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DD3E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2A2F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189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222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CDD3E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2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4572000" cy="457200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5669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Wispr Flow types for you.</a:t>
            </a:r>
            <a:endParaRPr lang="en-US" sz="4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 </a:t>
            </a:r>
            <a:pPr algn="l"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for you.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40690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tool the marketing group is sleeping on — a head-to-head for people who actually want to get work done.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" y="5212080"/>
            <a:ext cx="4206240" cy="566928"/>
          </a:xfrm>
          <a:prstGeom prst="roundRect">
            <a:avLst>
              <a:gd name="adj" fmla="val 16129"/>
            </a:avLst>
          </a:prstGeom>
          <a:solidFill>
            <a:srgbClr val="1B1F3B"/>
          </a:solidFill>
          <a:ln w="12700">
            <a:solidFill>
              <a:srgbClr val="3238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52120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 one-time</a:t>
            </a:r>
            <a:pPr algn="ctr" indent="0" marL="0">
              <a:buNone/>
            </a:pPr>
            <a:r>
              <a:rPr lang="en-US" sz="1400" dirty="0">
                <a:solidFill>
                  <a:srgbClr val="CDD3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not $180/yr forever</a:t>
            </a:r>
            <a:endParaRPr lang="en-US" sz="1400" dirty="0"/>
          </a:p>
        </p:txBody>
      </p:sp>
      <p:pic>
        <p:nvPicPr>
          <p:cNvPr id="10" name="Image 0" descr="D:\Claude CODE\SpeakEasy\marketing\wispr-flow-takedown\images\hero-voice-to-st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43800" y="2514600"/>
            <a:ext cx="4069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23590" cy="329184"/>
          </a:xfrm>
          <a:prstGeom prst="roundRect">
            <a:avLst>
              <a:gd name="adj" fmla="val 50000"/>
            </a:avLst>
          </a:prstGeom>
          <a:solidFill>
            <a:srgbClr val="EFEA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1235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EVERYONE'S HYPED ABOUT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Wispr Flow is, honestly, </a:t>
            </a:r>
            <a:pPr algn="l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great dictation app.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6F7FB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860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5B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(May 2026)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38144" y="21031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6F7FB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38144" y="22860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5B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2.5M+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38144" y="3200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6208" y="21031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6F7FB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22860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5B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36208" y="3200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34272" y="21031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6F7FB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34272" y="22860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5B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~184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034272" y="3200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words/min dictation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F5FFFB"/>
          </a:solidFill>
          <a:ln w="19050">
            <a:solidFill>
              <a:srgbClr val="D4F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3484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here to trash it.  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job is multilingual dictation on a Mac or phone, Wispr is the better buy — and we'll say so. The question for marketers is different: do you want voice that types, or voice that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stack?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57200" y="64190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BF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36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A1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633679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that works for you — not just types for you.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37283" cy="329184"/>
          </a:xfrm>
          <a:prstGeom prst="roundRect">
            <a:avLst>
              <a:gd name="adj" fmla="val 50000"/>
            </a:avLst>
          </a:prstGeom>
          <a:solidFill>
            <a:srgbClr val="EFEA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0372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CATEGORY GAP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only types. </a:t>
            </a:r>
            <a:pPr algn="l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That's the whole ceiling.</a:t>
            </a:r>
            <a:endParaRPr lang="en-US" sz="3400" dirty="0"/>
          </a:p>
        </p:txBody>
      </p:sp>
      <p:pic>
        <p:nvPicPr>
          <p:cNvPr id="5" name="Image 0" descr="D:\Claude CODE\SpeakEasy\marketing\wispr-flow-takedown\images\comparison-dictation-vs-autom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57400"/>
            <a:ext cx="6126480" cy="34472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219456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FFF7F7"/>
          </a:solidFill>
          <a:ln w="19050">
            <a:solidFill>
              <a:srgbClr val="FDE0E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69480" y="224028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41248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voice-triggered actions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webhooks. No custom workflows. No “say it → it happens.”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086600" y="384048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7296912" y="37216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no-code webhooks into Zapier / Make / n8n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086600" y="428853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7296912" y="41696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stored AI-prompt actions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086600" y="473659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7296912" y="46177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per-action hotkeys or targeted paste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086600" y="518464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7296912" y="50657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 API exists — but you're not coding mid-campaign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57200" y="64190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BF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6336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A1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0" y="633679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that works for you — not just types for you.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39773" cy="329184"/>
          </a:xfrm>
          <a:prstGeom prst="roundRect">
            <a:avLst>
              <a:gd name="adj" fmla="val 50000"/>
            </a:avLst>
          </a:prstGeom>
          <a:solidFill>
            <a:srgbClr val="EFEA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397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DIFFERENCE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Say the name of an action — </a:t>
            </a:r>
            <a:pPr algn="l"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runs.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126480" cy="3520440"/>
          </a:xfrm>
          <a:prstGeom prst="roundRect">
            <a:avLst>
              <a:gd name="adj" fmla="val 3636"/>
            </a:avLst>
          </a:prstGeom>
          <a:solidFill>
            <a:srgbClr val="0F1222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95728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2286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 HOTKEY  ·  SPEAK A NAME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852928"/>
            <a:ext cx="5577840" cy="749808"/>
          </a:xfrm>
          <a:prstGeom prst="roundRect">
            <a:avLst>
              <a:gd name="adj" fmla="val 12195"/>
            </a:avLst>
          </a:prstGeom>
          <a:solidFill>
            <a:srgbClr val="1B1F3B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852928"/>
            <a:ext cx="91440" cy="749808"/>
          </a:xfrm>
          <a:prstGeom prst="roundRect">
            <a:avLst/>
          </a:prstGeom>
          <a:solidFill>
            <a:srgbClr val="5B5BF0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29260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"Send to my newsletter Zap"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5526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fires a webhook into your stack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730752"/>
            <a:ext cx="5577840" cy="749808"/>
          </a:xfrm>
          <a:prstGeom prst="roundRect">
            <a:avLst>
              <a:gd name="adj" fmla="val 12195"/>
            </a:avLst>
          </a:prstGeom>
          <a:solidFill>
            <a:srgbClr val="1B1F3B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730752"/>
            <a:ext cx="91440" cy="749808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380390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"Rewrite this as a hook"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0432" y="413308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runs a stored AI prompt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608576"/>
            <a:ext cx="5577840" cy="749808"/>
          </a:xfrm>
          <a:prstGeom prst="roundRect">
            <a:avLst>
              <a:gd name="adj" fmla="val 12195"/>
            </a:avLst>
          </a:prstGeom>
          <a:solidFill>
            <a:srgbClr val="1B1F3B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608576"/>
            <a:ext cx="91440" cy="749808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170432" y="468172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"Open Canva"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50109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launches the right tool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86600" y="2148840"/>
            <a:ext cx="566928" cy="566928"/>
          </a:xfrm>
          <a:prstGeom prst="ellipse">
            <a:avLst/>
          </a:prstGeom>
          <a:solidFill>
            <a:srgbClr val="5B5BF0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0" y="2093976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 </a:t>
            </a:r>
            <a:pPr algn="l" indent="0" marL="0">
              <a:lnSpc>
                <a:spcPct val="95000"/>
              </a:lnSpc>
              <a:buNone/>
            </a:pPr>
            <a:endParaRPr lang="en-US" sz="1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one hotkey, say an action's name. Fuzzy-matching finds it.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86600" y="2999232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2999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0" y="294436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 </a:t>
            </a:r>
            <a:pPr algn="l" indent="0" marL="0">
              <a:lnSpc>
                <a:spcPct val="95000"/>
              </a:lnSpc>
              <a:buNone/>
            </a:pPr>
            <a:endParaRPr lang="en-US" sz="1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into Zapier / Make / n8n or any endpoint, response pasted back.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3849624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3849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72400" y="37947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 </a:t>
            </a:r>
            <a:pPr algn="l" indent="0" marL="0">
              <a:lnSpc>
                <a:spcPct val="95000"/>
              </a:lnSpc>
              <a:buNone/>
            </a:pPr>
            <a:endParaRPr lang="en-US" sz="1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stored prompt on your text — Claude, GPT, or OpenRouter.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86600" y="4700016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772400" y="46451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tool  </a:t>
            </a:r>
            <a:pPr algn="l" indent="0" marL="0">
              <a:lnSpc>
                <a:spcPct val="95000"/>
              </a:lnSpc>
              <a:buNone/>
            </a:pPr>
            <a:endParaRPr lang="en-US" sz="1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the right app or URL (even the right Chrome profile).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64190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BF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6336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A1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633679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that works for you — not just types for you.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432304" cy="329184"/>
          </a:xfrm>
          <a:prstGeom prst="roundRect">
            <a:avLst>
              <a:gd name="adj" fmla="val 50000"/>
            </a:avLst>
          </a:prstGeom>
          <a:solidFill>
            <a:srgbClr val="EFEA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MARKETERS SWITCH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reasons it wins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5BF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that DOES things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86968" y="28986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webhooks, AI transforms &amp; tools by voice. Wispr can only type.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2544" y="20574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22860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75504" y="22585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keys, your money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99432" y="28986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OpenAI key. Dictation runs ~$0.006/min — pennies.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5008" y="20574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3608" y="22860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87968" y="22585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Multi-LLM, not locked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11896" y="28986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GPT, or anything on OpenRouter. Wispr is one closed engine.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251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5BF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42245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Power-user control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86968" y="486460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hotkeys, Cursor Lock, Chrome-profile routing on Windows.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52544" y="4023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1144" y="4251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4581144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75504" y="42245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 it, don't rent it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599432" y="486460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license key, yours to keep. No subscription that dies when you stop.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65008" y="4023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93608" y="4251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829360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887968" y="42245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surveillance scandal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311896" y="486460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privacy record. (Wispr was caught sending audio + screenshots in 2025.)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64190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BF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6336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A1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633679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that works for you — not just types for you.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2262" cy="329184"/>
          </a:xfrm>
          <a:prstGeom prst="roundRect">
            <a:avLst>
              <a:gd name="adj" fmla="val 50000"/>
            </a:avLst>
          </a:prstGeom>
          <a:solidFill>
            <a:srgbClr val="EFEA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6422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TO HEAD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concede what Wispr does better.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08792" cy="420624"/>
          </a:xfrm>
          <a:prstGeom prst="rect">
            <a:avLst/>
          </a:prstGeom>
          <a:solidFill>
            <a:srgbClr val="0F122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7452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14032" y="18745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36608" y="18745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Wispr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95144"/>
            <a:ext cx="109087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295144"/>
            <a:ext cx="612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 (say an action → it runs)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14032" y="2295144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436608" y="2295144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0908792" cy="374904"/>
          </a:xfrm>
          <a:prstGeom prst="rect">
            <a:avLst/>
          </a:prstGeom>
          <a:solidFill>
            <a:srgbClr val="FBFBFE"/>
          </a:solidFill>
          <a:ln w="6350">
            <a:solidFill>
              <a:srgbClr val="E6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670048"/>
            <a:ext cx="612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webhooks (Zapier / Make / n8n)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14032" y="267004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36608" y="267004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044952"/>
            <a:ext cx="109087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044952"/>
            <a:ext cx="612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AI-prompt actions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14032" y="3044952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436608" y="3044952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419856"/>
            <a:ext cx="10908792" cy="374904"/>
          </a:xfrm>
          <a:prstGeom prst="rect">
            <a:avLst/>
          </a:prstGeom>
          <a:solidFill>
            <a:srgbClr val="FBFBFE"/>
          </a:solidFill>
          <a:ln w="6350">
            <a:solidFill>
              <a:srgbClr val="E6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419856"/>
            <a:ext cx="612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(Claude / GPT / OpenRouter)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14032" y="3419856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436608" y="3419856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3794760"/>
            <a:ext cx="109087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794760"/>
            <a:ext cx="612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hotkeys + Cursor Lock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14032" y="3794760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36608" y="3794760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169664"/>
            <a:ext cx="10908792" cy="374904"/>
          </a:xfrm>
          <a:prstGeom prst="rect">
            <a:avLst/>
          </a:prstGeom>
          <a:solidFill>
            <a:srgbClr val="FBFBFE"/>
          </a:solidFill>
          <a:ln w="6350">
            <a:solidFill>
              <a:srgbClr val="E6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169664"/>
            <a:ext cx="612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114032" y="4169664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one-time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436608" y="4169664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$180/yr forever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4544568"/>
            <a:ext cx="109087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544568"/>
            <a:ext cx="612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114032" y="454456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436608" y="454456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(wins)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4919472"/>
            <a:ext cx="10908792" cy="374904"/>
          </a:xfrm>
          <a:prstGeom prst="rect">
            <a:avLst/>
          </a:prstGeom>
          <a:solidFill>
            <a:srgbClr val="FBFBFE"/>
          </a:solidFill>
          <a:ln w="6350">
            <a:solidFill>
              <a:srgbClr val="E6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4919472"/>
            <a:ext cx="612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/ iOS / Android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114032" y="4919472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only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436608" y="4919472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(wins)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" y="5294376"/>
            <a:ext cx="109087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5294376"/>
            <a:ext cx="612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dictionary / auto-format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114032" y="5294376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436608" y="5294376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(wins)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40080" y="5669280"/>
            <a:ext cx="10908792" cy="374904"/>
          </a:xfrm>
          <a:prstGeom prst="rect">
            <a:avLst/>
          </a:prstGeom>
          <a:solidFill>
            <a:srgbClr val="FBFBFE"/>
          </a:solidFill>
          <a:ln w="6350">
            <a:solidFill>
              <a:srgbClr val="E6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5669280"/>
            <a:ext cx="612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track record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114032" y="5669280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436608" y="5669280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incident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457200" y="64190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BF0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6336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A1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633679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that works for you — not just types for you.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41018" cy="329184"/>
          </a:xfrm>
          <a:prstGeom prst="roundRect">
            <a:avLst>
              <a:gd name="adj" fmla="val 50000"/>
            </a:avLst>
          </a:prstGeom>
          <a:solidFill>
            <a:srgbClr val="1E23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410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A9B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KILL SHOT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the numbers. </a:t>
            </a:r>
            <a:pPr algn="l"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isn't close.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total cost by usage level — SpeakEasy ($99 once + your usage) vs. Wispr ($180/yr).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286000"/>
          <a:ext cx="7040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237744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11142A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2487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user saves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92440" y="2788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~$300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809244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 years — pays for itself in ~9 months.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09560" y="4114800"/>
            <a:ext cx="3657600" cy="1783080"/>
          </a:xfrm>
          <a:prstGeom prst="roundRect">
            <a:avLst>
              <a:gd name="adj" fmla="val 6154"/>
            </a:avLst>
          </a:prstGeom>
          <a:solidFill>
            <a:srgbClr val="161A33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2440" y="4224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3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honest part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92440" y="4553712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A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extreme volume (5+ hrs of talking/week), Whisper minutes narrow the gap — the live calculator shows that too. That candor is the sell.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64190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6336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0" y="633679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1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that works for you — not just types for you.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34794" cy="329184"/>
          </a:xfrm>
          <a:prstGeom prst="roundRect">
            <a:avLst>
              <a:gd name="adj" fmla="val 50000"/>
            </a:avLst>
          </a:prstGeom>
          <a:solidFill>
            <a:srgbClr val="EFEA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234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≠ ON YOUR SIDE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cuts both ways.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49240" cy="3566160"/>
          </a:xfrm>
          <a:prstGeom prst="roundRect">
            <a:avLst>
              <a:gd name="adj" fmla="val 3590"/>
            </a:avLst>
          </a:prstGeom>
          <a:solidFill>
            <a:srgbClr val="FFF7F7"/>
          </a:solidFill>
          <a:ln w="19050">
            <a:solidFill>
              <a:srgbClr val="FDE0E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</a:t>
            </a:r>
            <a:pPr indent="0" marL="0">
              <a:buNone/>
            </a:pPr>
            <a:r>
              <a:rPr lang="en-US" sz="18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Wispr Flow — 2025, reported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found the app capturing screenshots of your active window and sending audio to third-party cloud infrastructure. Wispr's first move was to ban the researcher who reported it — the CTO apologized only later.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Mode was added after — but users can't independently verify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2057400"/>
            <a:ext cx="5349240" cy="3566160"/>
          </a:xfrm>
          <a:prstGeom prst="roundRect">
            <a:avLst>
              <a:gd name="adj" fmla="val 3590"/>
            </a:avLst>
          </a:prstGeom>
          <a:solidFill>
            <a:srgbClr val="F5FFFB"/>
          </a:solidFill>
          <a:ln w="19050">
            <a:solidFill>
              <a:srgbClr val="D4F3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  </a:t>
            </a:r>
            <a:pPr indent="0" marL="0">
              <a:buNone/>
            </a:pPr>
            <a:r>
              <a:rPr lang="en-US" sz="18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283464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privacy incident. You hold your own license key and bring your own API key — your account and your spend stay in your hands.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73952" y="44348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2C6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talk: transcription is cloud (OpenAI Whisper) — same as Wispr. Neither is offline. We don't pretend otherwise.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independent coverage (Medium / ModelPiper, 2025) and 2026 review roundups; criticisms stated as reported, not adjudicated.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EFEA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NOT TO BUY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We'll tell you when Wispr is the better choice.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this out loud is exactly why the pitch lands. Buy SpeakEasy for the automation + cost story — not because Wispr is bad.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423160"/>
            <a:ext cx="91440" cy="777240"/>
          </a:xfrm>
          <a:prstGeom prst="roundRect">
            <a:avLst/>
          </a:prstGeom>
          <a:solidFill>
            <a:srgbClr val="F5B30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4231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work across many languages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0" y="24231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Wispr's 100+ vs our ~13. Real edge if you're not English-first.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355848"/>
            <a:ext cx="91440" cy="777240"/>
          </a:xfrm>
          <a:prstGeom prst="roundRect">
            <a:avLst/>
          </a:prstGeom>
          <a:solidFill>
            <a:srgbClr val="F5B30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3558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need it on a phone or Mac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0" y="335584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Wispr ships Mac, iOS &amp; Android. We're a Windows desk tool.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88536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288536"/>
            <a:ext cx="91440" cy="777240"/>
          </a:xfrm>
          <a:prstGeom prst="roundRect">
            <a:avLst/>
          </a:prstGeom>
          <a:solidFill>
            <a:srgbClr val="F5B30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8853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want zero-setup polish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03520" y="428853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Wispr's learned dictionary &amp; auto-format are more refined out of the box.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221224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5221224"/>
            <a:ext cx="91440" cy="777240"/>
          </a:xfrm>
          <a:prstGeom prst="roundRect">
            <a:avLst/>
          </a:prstGeom>
          <a:solidFill>
            <a:srgbClr val="F5B30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22122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live across many devices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0" y="522122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Wispr syncs everywhere. SpeakEasy is one powerful desktop.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64190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BF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6336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A1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633679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that works for you — not just types for you.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486400" cy="548640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345997" cy="329184"/>
          </a:xfrm>
          <a:prstGeom prst="roundRect">
            <a:avLst>
              <a:gd name="adj" fmla="val 50000"/>
            </a:avLst>
          </a:prstGeom>
          <a:solidFill>
            <a:srgbClr val="1E23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A9B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OFFER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 your voice tool for </a:t>
            </a:r>
            <a:pPr algn="l"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</a:t>
            </a:r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 once.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7 months of Wispr, then it's yours. Bring your own OpenAI key and run dictation for pennies.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91693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880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 — run any action by name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483864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44728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webhook + AI-prompt actions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050792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0142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 &amp; OpenRouter support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61772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58114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hotkeys + Cursor Lock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5184648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184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1480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devices · free updates · your API key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63840" y="2148840"/>
            <a:ext cx="37490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732520" y="197510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8732520" y="1975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FOUNDING PRICE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2697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F1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</a:t>
            </a:r>
            <a:pPr algn="ctr" indent="0" marL="0">
              <a:buNone/>
            </a:pPr>
            <a:r>
              <a:rPr lang="en-US" sz="1800" dirty="0">
                <a:solidFill>
                  <a:srgbClr val="4750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once</a:t>
            </a:r>
            <a:endParaRPr lang="en-US" sz="5800" dirty="0"/>
          </a:p>
        </p:txBody>
      </p:sp>
      <p:sp>
        <p:nvSpPr>
          <p:cNvPr id="27" name="Text 25"/>
          <p:cNvSpPr/>
          <p:nvPr/>
        </p:nvSpPr>
        <p:spPr>
          <a:xfrm>
            <a:off x="7863840" y="3611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Wispr </a:t>
            </a:r>
            <a:pPr algn="ctr" indent="0" marL="0">
              <a:buNone/>
            </a:pPr>
            <a:r>
              <a:rPr lang="en-US" sz="1400" strike="sngStrike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$180/yr</a:t>
            </a:r>
            <a:pPr algn="ctr" indent="0" marL="0">
              <a:buNone/>
            </a:pPr>
            <a:r>
              <a:rPr lang="en-US" sz="1400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forever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0" y="4206240"/>
            <a:ext cx="3017520" cy="640080"/>
          </a:xfrm>
          <a:prstGeom prst="roundRect">
            <a:avLst>
              <a:gd name="adj" fmla="val 17143"/>
            </a:avLst>
          </a:prstGeom>
          <a:solidFill>
            <a:srgbClr val="5B5BF0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your license 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01000" y="4983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47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live calculator with your own Wispr usage — see your exact savings before you buy.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64190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6336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9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633679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1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that works for you — not just types for you.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2377440"/>
            <a:ext cx="6400800" cy="6400800"/>
          </a:xfrm>
          <a:prstGeom prst="ellipse">
            <a:avLst/>
          </a:prstGeom>
          <a:solidFill>
            <a:srgbClr val="14B8A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19456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Wispr types for you.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SpeakEasy 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for you.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once · your API key · voice that runs your marketing stack.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3200400" cy="658368"/>
          </a:xfrm>
          <a:prstGeom prst="roundRect">
            <a:avLst>
              <a:gd name="adj" fmla="val 16667"/>
            </a:avLst>
          </a:prstGeom>
          <a:solidFill>
            <a:srgbClr val="5B5BF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2578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your license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SpeakEasy vs. Wispr Flow</dc:title>
  <dc:subject>PptxGenJS Presentation</dc:subject>
  <dc:creator>SpeakEasy</dc:creator>
  <cp:lastModifiedBy>SpeakEasy</cp:lastModifiedBy>
  <cp:revision>1</cp:revision>
  <dcterms:created xsi:type="dcterms:W3CDTF">2026-06-07T01:32:16Z</dcterms:created>
  <dcterms:modified xsi:type="dcterms:W3CDTF">2026-06-07T01:32:16Z</dcterms:modified>
</cp:coreProperties>
</file>